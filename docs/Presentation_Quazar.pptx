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2" r:id="rId3"/>
  </p:sldMasterIdLst>
  <p:sldIdLst>
    <p:sldId id="256" r:id="rId4"/>
    <p:sldId id="258" r:id="rId5"/>
    <p:sldId id="262" r:id="rId6"/>
    <p:sldId id="266" r:id="rId7"/>
    <p:sldId id="286" r:id="rId8"/>
    <p:sldId id="288" r:id="rId9"/>
    <p:sldId id="287" r:id="rId10"/>
    <p:sldId id="276" r:id="rId11"/>
    <p:sldId id="268" r:id="rId12"/>
    <p:sldId id="278" r:id="rId13"/>
    <p:sldId id="277" r:id="rId14"/>
    <p:sldId id="279" r:id="rId15"/>
    <p:sldId id="285" r:id="rId16"/>
    <p:sldId id="270" r:id="rId1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7" autoAdjust="0"/>
    <p:restoredTop sz="92661" autoAdjust="0"/>
  </p:normalViewPr>
  <p:slideViewPr>
    <p:cSldViewPr snapToGrid="0">
      <p:cViewPr>
        <p:scale>
          <a:sx n="100" d="100"/>
          <a:sy n="100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3" name="Google Shape;10;p2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5805363" y="1317240"/>
            <a:ext cx="2831401" cy="264780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325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6963" y="849601"/>
            <a:ext cx="5060521" cy="246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7" name="Google Shape;15;p2"/>
          <p:cNvPicPr/>
          <p:nvPr/>
        </p:nvPicPr>
        <p:blipFill>
          <a:blip r:embed="rId3"/>
          <a:srcRect l="61974"/>
          <a:stretch/>
        </p:blipFill>
        <p:spPr>
          <a:xfrm>
            <a:off x="5805363" y="1051560"/>
            <a:ext cx="2831401" cy="265320"/>
          </a:xfrm>
          <a:prstGeom prst="rect">
            <a:avLst/>
          </a:prstGeom>
          <a:noFill/>
          <a:ln w="9525">
            <a:solidFill>
              <a:srgbClr val="707070"/>
            </a:solidFill>
            <a:rou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71;p11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9" name="Google Shape;72;p11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" name="Google Shape;73;p11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84122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113;p17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35" name="Google Shape;114;p17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" name="Google Shape;115;p17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2" y="444960"/>
            <a:ext cx="7703641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1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144;p20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54" name="Google Shape;145;p20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5" name="Google Shape;146;p20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92722" y="974880"/>
            <a:ext cx="3876121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4298762" y="2743560"/>
            <a:ext cx="3928681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17;p3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59" name="Google Shape;18;p3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Google Shape;19;p3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1" name="Google Shape;20;p3"/>
          <p:cNvPicPr/>
          <p:nvPr/>
        </p:nvPicPr>
        <p:blipFill>
          <a:blip r:embed="rId4"/>
          <a:stretch/>
        </p:blipFill>
        <p:spPr>
          <a:xfrm>
            <a:off x="3233161" y="3371400"/>
            <a:ext cx="5515200" cy="13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21;p3"/>
          <p:cNvPicPr/>
          <p:nvPr/>
        </p:nvPicPr>
        <p:blipFill>
          <a:blip r:embed="rId5"/>
          <a:stretch/>
        </p:blipFill>
        <p:spPr>
          <a:xfrm>
            <a:off x="555482" y="817920"/>
            <a:ext cx="5398921" cy="30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60482" y="1532520"/>
            <a:ext cx="3458521" cy="15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779763" y="1910880"/>
            <a:ext cx="777961" cy="76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5001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5001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387123" y="947160"/>
            <a:ext cx="2107081" cy="206712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152;p21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67" name="Google Shape;153;p21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" name="Google Shape;154;p21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69600" y="1143000"/>
            <a:ext cx="3852000" cy="56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70" name="Google Shape;157;p21"/>
          <p:cNvPicPr/>
          <p:nvPr/>
        </p:nvPicPr>
        <p:blipFill>
          <a:blip r:embed="rId4"/>
          <a:srcRect l="19759" t="14674" r="19444" b="47101"/>
          <a:stretch/>
        </p:blipFill>
        <p:spPr>
          <a:xfrm>
            <a:off x="4549321" y="1778400"/>
            <a:ext cx="3952800" cy="248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158;p21"/>
          <p:cNvSpPr/>
          <p:nvPr/>
        </p:nvSpPr>
        <p:spPr>
          <a:xfrm>
            <a:off x="4865401" y="2464560"/>
            <a:ext cx="3320281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11">
              <a:lnSpc>
                <a:spcPct val="100000"/>
              </a:lnSpc>
              <a:tabLst>
                <a:tab pos="0" algn="l"/>
              </a:tabLst>
            </a:pPr>
            <a:r>
              <a:rPr lang="en" sz="1001" b="1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CREDITS:</a:t>
            </a:r>
            <a:r>
              <a:rPr lang="en" sz="1001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This presentation template was created by </a:t>
            </a:r>
            <a:r>
              <a:rPr lang="en" sz="1001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5"/>
              </a:rPr>
              <a:t>Slidesgo</a:t>
            </a:r>
            <a:r>
              <a:rPr lang="en" sz="1001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and includes icons, infographics &amp; images by </a:t>
            </a:r>
            <a:r>
              <a:rPr lang="en" sz="1001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6"/>
              </a:rPr>
              <a:t>Freepik</a:t>
            </a:r>
            <a:r>
              <a:rPr lang="en" sz="1001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endParaRPr lang="en-US" sz="1001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60;p22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73" name="Google Shape;161;p22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" name="Google Shape;162;p22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27;p4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76" name="Google Shape;28;p4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" name="Google Shape;29;p4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20002" y="444960"/>
            <a:ext cx="7703641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1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20002" y="1152360"/>
            <a:ext cx="7703641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41;p6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84" name="Google Shape;42;p6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" name="Google Shape;43;p6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846000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7" name="Google Shape;45;p6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2" y="1203480"/>
            <a:ext cx="8229241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47;p7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90" name="Google Shape;48;p7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Google Shape;49;p7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28602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1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715722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54;p8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96" name="Google Shape;55;p8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Google Shape;56;p8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388162" y="1307160"/>
            <a:ext cx="6367321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59;p9"/>
          <p:cNvGrpSpPr/>
          <p:nvPr/>
        </p:nvGrpSpPr>
        <p:grpSpPr>
          <a:xfrm>
            <a:off x="84962" y="78480"/>
            <a:ext cx="8973721" cy="4924800"/>
            <a:chOff x="84960" y="78480"/>
            <a:chExt cx="8973720" cy="4924800"/>
          </a:xfrm>
        </p:grpSpPr>
        <p:pic>
          <p:nvPicPr>
            <p:cNvPr id="100" name="Google Shape;60;p9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Google Shape;61;p9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0002" y="444960"/>
            <a:ext cx="7703641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1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78;p13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42003" y="654840"/>
            <a:ext cx="8453161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342003" y="3849480"/>
            <a:ext cx="765001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342003" y="2560680"/>
            <a:ext cx="765001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342721" y="1916640"/>
            <a:ext cx="7639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342003" y="3205080"/>
            <a:ext cx="765001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title"/>
          </p:nvPr>
        </p:nvSpPr>
        <p:spPr>
          <a:xfrm>
            <a:off x="3985920" y="25610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title"/>
          </p:nvPr>
        </p:nvSpPr>
        <p:spPr>
          <a:xfrm>
            <a:off x="3985920" y="32054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title"/>
          </p:nvPr>
        </p:nvSpPr>
        <p:spPr>
          <a:xfrm>
            <a:off x="3985920" y="38494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9"/>
          <p:cNvSpPr>
            <a:spLocks noGrp="1"/>
          </p:cNvSpPr>
          <p:nvPr>
            <p:ph type="title"/>
          </p:nvPr>
        </p:nvSpPr>
        <p:spPr>
          <a:xfrm>
            <a:off x="3985920" y="19166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/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2" name="Google Shape;96;p13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98;p14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9321" y="794520"/>
            <a:ext cx="7866361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5" name="Google Shape;101;p14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103;p15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789360" y="795960"/>
            <a:ext cx="4547520" cy="125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789361" y="2229480"/>
            <a:ext cx="4939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22362" y="1195200"/>
            <a:ext cx="2946960" cy="3341160"/>
          </a:xfrm>
          <a:prstGeom prst="rect">
            <a:avLst/>
          </a:prstGeom>
          <a:noFill/>
          <a:ln w="936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30" name="Google Shape;107;p15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09;p16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42000" y="689760"/>
            <a:ext cx="84600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3" name="Google Shape;111;p16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8;p18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44601" y="1706400"/>
            <a:ext cx="6984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342003" y="1706400"/>
            <a:ext cx="697321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title"/>
          </p:nvPr>
        </p:nvSpPr>
        <p:spPr>
          <a:xfrm>
            <a:off x="5948281" y="1706400"/>
            <a:ext cx="6984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342002" y="654840"/>
            <a:ext cx="8249401" cy="60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3" name="Google Shape;126;p18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128;p19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42002" y="654840"/>
            <a:ext cx="7703641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6132601" y="3071520"/>
            <a:ext cx="2574361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6132601" y="1677240"/>
            <a:ext cx="2574361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3240002" y="1677600"/>
            <a:ext cx="2574361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title"/>
          </p:nvPr>
        </p:nvSpPr>
        <p:spPr>
          <a:xfrm>
            <a:off x="3237840" y="3071520"/>
            <a:ext cx="25790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title"/>
          </p:nvPr>
        </p:nvSpPr>
        <p:spPr>
          <a:xfrm>
            <a:off x="342720" y="1677240"/>
            <a:ext cx="25790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title"/>
          </p:nvPr>
        </p:nvSpPr>
        <p:spPr>
          <a:xfrm>
            <a:off x="342720" y="3071520"/>
            <a:ext cx="25790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2" name="Google Shape;142;p19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33;p5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8573401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2" name="Google Shape;39;p5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66;p10"/>
          <p:cNvPicPr/>
          <p:nvPr/>
        </p:nvPicPr>
        <p:blipFill>
          <a:blip r:embed="rId2"/>
          <a:stretch/>
        </p:blipFill>
        <p:spPr>
          <a:xfrm>
            <a:off x="84962" y="78480"/>
            <a:ext cx="8973721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body"/>
          </p:nvPr>
        </p:nvSpPr>
        <p:spPr>
          <a:xfrm>
            <a:off x="191522" y="686160"/>
            <a:ext cx="8757721" cy="412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11" lvl="1" indent="-324004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16" lvl="2" indent="-28800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22" lvl="3" indent="-216003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27" lvl="4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32" lvl="5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38" lvl="6" indent="-216003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1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title"/>
          </p:nvPr>
        </p:nvSpPr>
        <p:spPr>
          <a:xfrm>
            <a:off x="6584042" y="3792960"/>
            <a:ext cx="2003760" cy="694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6" name="Google Shape;69;p10"/>
          <p:cNvPicPr/>
          <p:nvPr/>
        </p:nvPicPr>
        <p:blipFill>
          <a:blip r:embed="rId3"/>
          <a:stretch/>
        </p:blipFill>
        <p:spPr>
          <a:xfrm>
            <a:off x="270362" y="196560"/>
            <a:ext cx="8644681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69;p26"/>
          <p:cNvSpPr/>
          <p:nvPr/>
        </p:nvSpPr>
        <p:spPr>
          <a:xfrm>
            <a:off x="2" y="-10440"/>
            <a:ext cx="9143641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11">
              <a:lnSpc>
                <a:spcPct val="100000"/>
              </a:lnSpc>
              <a:tabLst>
                <a:tab pos="0" algn="l"/>
              </a:tabLst>
            </a:pPr>
            <a:endParaRPr lang="en-US" sz="1801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3162" y="539640"/>
            <a:ext cx="7717321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1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72;p27"/>
          <p:cNvSpPr/>
          <p:nvPr/>
        </p:nvSpPr>
        <p:spPr>
          <a:xfrm>
            <a:off x="2" y="-10440"/>
            <a:ext cx="9143641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11">
              <a:lnSpc>
                <a:spcPct val="100000"/>
              </a:lnSpc>
              <a:tabLst>
                <a:tab pos="0" algn="l"/>
              </a:tabLst>
            </a:pPr>
            <a:endParaRPr lang="en-US" sz="1801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28641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1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4977722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1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CBD9D0-8A2C-9E4C-FD7F-26B0CF715D76}"/>
              </a:ext>
            </a:extLst>
          </p:cNvPr>
          <p:cNvSpPr/>
          <p:nvPr/>
        </p:nvSpPr>
        <p:spPr>
          <a:xfrm>
            <a:off x="5548184" y="866138"/>
            <a:ext cx="3291234" cy="646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61879" y="866138"/>
            <a:ext cx="7746445" cy="9333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dirty="0" err="1">
                <a:solidFill>
                  <a:schemeClr val="dk1"/>
                </a:solidFill>
                <a:latin typeface="Roboto Mono"/>
                <a:ea typeface="Roboto Mono"/>
              </a:rPr>
              <a:t>Онлайн‑сервис</a:t>
            </a:r>
            <a:r>
              <a:rPr lang="en-US" sz="2400" dirty="0">
                <a:solidFill>
                  <a:schemeClr val="dk1"/>
                </a:solidFill>
                <a:latin typeface="Roboto Mono"/>
                <a:ea typeface="Roboto Mono"/>
              </a:rPr>
              <a:t> ц</a:t>
            </a:r>
            <a:r>
              <a:rPr lang="ru-RU" sz="2400" dirty="0">
                <a:solidFill>
                  <a:schemeClr val="dk1"/>
                </a:solidFill>
                <a:latin typeface="Roboto Mono"/>
                <a:ea typeface="Roboto Mono"/>
              </a:rPr>
              <a:t>и</a:t>
            </a:r>
            <a:r>
              <a:rPr lang="en-US" sz="2400" dirty="0" err="1">
                <a:solidFill>
                  <a:schemeClr val="dk1"/>
                </a:solidFill>
                <a:latin typeface="Roboto Mono"/>
                <a:ea typeface="Roboto Mono"/>
              </a:rPr>
              <a:t>фро</a:t>
            </a:r>
            <a:r>
              <a:rPr lang="ru-RU" sz="2400" dirty="0" err="1">
                <a:solidFill>
                  <a:schemeClr val="dk1"/>
                </a:solidFill>
                <a:latin typeface="Roboto Mono"/>
                <a:ea typeface="Roboto Mono"/>
              </a:rPr>
              <a:t>вого</a:t>
            </a:r>
            <a:r>
              <a:rPr lang="ru-RU" sz="2400" dirty="0">
                <a:solidFill>
                  <a:schemeClr val="dk1"/>
                </a:solidFill>
                <a:latin typeface="Roboto Mono"/>
                <a:ea typeface="Roboto Mono"/>
              </a:rPr>
              <a:t> распространения компьютерных игр и программ</a:t>
            </a:r>
            <a:endParaRPr lang="en-US" sz="24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3326C9FD-F621-BFC9-2A21-F488A67799B4}"/>
              </a:ext>
            </a:extLst>
          </p:cNvPr>
          <p:cNvSpPr txBox="1">
            <a:spLocks/>
          </p:cNvSpPr>
          <p:nvPr/>
        </p:nvSpPr>
        <p:spPr>
          <a:xfrm>
            <a:off x="4648627" y="3180116"/>
            <a:ext cx="4476240" cy="770736"/>
          </a:xfrm>
          <a:prstGeom prst="rect">
            <a:avLst/>
          </a:prstGeom>
          <a:noFill/>
          <a:ln w="0">
            <a:noFill/>
            <a:round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11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1" dirty="0">
                <a:latin typeface="Arial"/>
              </a:rPr>
              <a:t>Дипломный руководитель</a:t>
            </a:r>
            <a:r>
              <a:rPr lang="en-US" sz="1801" dirty="0">
                <a:latin typeface="Arial"/>
              </a:rPr>
              <a:t>:</a:t>
            </a:r>
            <a:r>
              <a:rPr lang="ru-RU" sz="1801" dirty="0">
                <a:latin typeface="Arial"/>
              </a:rPr>
              <a:t> Преподаватель СПО</a:t>
            </a:r>
            <a:r>
              <a:rPr lang="en-US" sz="1801" dirty="0">
                <a:latin typeface="Arial"/>
              </a:rPr>
              <a:t> </a:t>
            </a:r>
            <a:r>
              <a:rPr lang="ru-RU" sz="1801" dirty="0" err="1">
                <a:latin typeface="Arial"/>
              </a:rPr>
              <a:t>Колиев</a:t>
            </a:r>
            <a:r>
              <a:rPr lang="ru-RU" sz="1801" dirty="0">
                <a:latin typeface="Arial"/>
              </a:rPr>
              <a:t> Н.В.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CDD37-310D-47B0-8AE7-0B337944A116}"/>
              </a:ext>
            </a:extLst>
          </p:cNvPr>
          <p:cNvSpPr txBox="1"/>
          <p:nvPr/>
        </p:nvSpPr>
        <p:spPr>
          <a:xfrm>
            <a:off x="4696811" y="2246816"/>
            <a:ext cx="4102443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defTabSz="914411">
              <a:tabLst>
                <a:tab pos="0" algn="l"/>
              </a:tabLst>
              <a:defRPr sz="1801">
                <a:latin typeface="Arial"/>
              </a:defRPr>
            </a:lvl1pPr>
          </a:lstStyle>
          <a:p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студент группы 090207-ИСПа-о22</a:t>
            </a:r>
            <a:r>
              <a:rPr lang="en-US" dirty="0"/>
              <a:t> </a:t>
            </a:r>
            <a:r>
              <a:rPr lang="ru-RU" dirty="0"/>
              <a:t>Иванов Егор Витальевич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A1801-4CEA-96AF-F246-393089D29DD1}"/>
              </a:ext>
            </a:extLst>
          </p:cNvPr>
          <p:cNvSpPr txBox="1"/>
          <p:nvPr/>
        </p:nvSpPr>
        <p:spPr>
          <a:xfrm>
            <a:off x="620324" y="2213647"/>
            <a:ext cx="4102443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>
              <a:tabLst>
                <a:tab pos="0" algn="l"/>
              </a:tabLst>
            </a:pPr>
            <a:r>
              <a:rPr lang="ru-RU" sz="1801" dirty="0">
                <a:latin typeface="Arial"/>
              </a:rPr>
              <a:t>Факультет</a:t>
            </a:r>
            <a:r>
              <a:rPr lang="en-US" sz="1801" dirty="0">
                <a:latin typeface="Arial"/>
              </a:rPr>
              <a:t>: </a:t>
            </a:r>
            <a:r>
              <a:rPr lang="ru-RU" sz="1801" dirty="0">
                <a:latin typeface="Arial"/>
              </a:rPr>
              <a:t>Новочеркасский политехнический колледж</a:t>
            </a:r>
            <a:endParaRPr lang="en-US" sz="1801" dirty="0">
              <a:latin typeface="OpenSymbo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479FB-785A-2101-EEC9-A7EE581BB136}"/>
              </a:ext>
            </a:extLst>
          </p:cNvPr>
          <p:cNvSpPr txBox="1"/>
          <p:nvPr/>
        </p:nvSpPr>
        <p:spPr>
          <a:xfrm>
            <a:off x="594368" y="3180116"/>
            <a:ext cx="4102443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>
              <a:tabLst>
                <a:tab pos="0" algn="l"/>
              </a:tabLst>
            </a:pPr>
            <a:r>
              <a:rPr lang="ru-RU" sz="1801" dirty="0">
                <a:latin typeface="+mj-lt"/>
              </a:rPr>
              <a:t>Направление</a:t>
            </a:r>
            <a:r>
              <a:rPr lang="en-US" sz="1801" dirty="0">
                <a:latin typeface="+mj-lt"/>
              </a:rPr>
              <a:t>: </a:t>
            </a:r>
            <a:r>
              <a:rPr lang="ru-RU" sz="1801" dirty="0">
                <a:latin typeface="+mj-lt"/>
              </a:rPr>
              <a:t>Информационные системы и программирование</a:t>
            </a:r>
            <a:endParaRPr lang="en-US" sz="180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/>
          <p:cNvSpPr/>
          <p:nvPr/>
        </p:nvSpPr>
        <p:spPr>
          <a:xfrm>
            <a:off x="212463" y="733167"/>
            <a:ext cx="3619081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11">
              <a:tabLst>
                <a:tab pos="0" algn="l"/>
              </a:tabLst>
            </a:pPr>
            <a:r>
              <a:rPr lang="en-US" sz="2800" dirty="0" err="1">
                <a:solidFill>
                  <a:schemeClr val="dk1"/>
                </a:solidFill>
                <a:latin typeface="VT323"/>
              </a:rPr>
              <a:t>Введение</a:t>
            </a:r>
            <a:endParaRPr lang="en-US" sz="2800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120" name="image69e4f2bf1d00e" descr="image69e4f2bf1d014"/>
          <p:cNvPicPr/>
          <p:nvPr/>
        </p:nvPicPr>
        <p:blipFill>
          <a:blip r:embed="rId2"/>
          <a:stretch/>
        </p:blipFill>
        <p:spPr>
          <a:xfrm>
            <a:off x="4572001" y="706057"/>
            <a:ext cx="4375230" cy="409743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6" descr="A white circle with a ring around it&#10;&#10;AI-generated content may be incorrect.">
            <a:extLst>
              <a:ext uri="{FF2B5EF4-FFF2-40B4-BE49-F238E27FC236}">
                <a16:creationId xmlns:a16="http://schemas.microsoft.com/office/drawing/2014/main" id="{BC4B9A65-2548-8B58-70A4-54BD6F39DA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441" y="2069660"/>
            <a:ext cx="1089386" cy="1129931"/>
          </a:xfrm>
          <a:prstGeom prst="rect">
            <a:avLst/>
          </a:prstGeom>
        </p:spPr>
      </p:pic>
      <p:sp>
        <p:nvSpPr>
          <p:cNvPr id="6" name="Rectangle 121"/>
          <p:cNvSpPr/>
          <p:nvPr/>
        </p:nvSpPr>
        <p:spPr>
          <a:xfrm>
            <a:off x="302950" y="1373816"/>
            <a:ext cx="4269050" cy="31981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Рынок игр и компьютерных программ растёт, но собственной конкурентноспособной экосистемы для дистрибуции нет. Это ведёт к потере денег и технологической зависимости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11">
              <a:lnSpc>
                <a:spcPct val="150000"/>
              </a:lnSpc>
              <a:tabLst>
                <a:tab pos="0" algn="l"/>
              </a:tabLst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11">
              <a:lnSpc>
                <a:spcPct val="150000"/>
              </a:lnSpc>
              <a:tabLst>
                <a:tab pos="0" algn="l"/>
              </a:tabLst>
            </a:pPr>
            <a:r>
              <a:rPr lang="en-US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</a:t>
            </a: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зовать</a:t>
            </a: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прототип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</a:t>
            </a: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пользовательским и </a:t>
            </a:r>
            <a:r>
              <a:rPr lang="ru-RU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админским</a:t>
            </a: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функционалом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/>
          <p:cNvSpPr/>
          <p:nvPr/>
        </p:nvSpPr>
        <p:spPr>
          <a:xfrm>
            <a:off x="189282" y="665231"/>
            <a:ext cx="3619081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11">
              <a:tabLst>
                <a:tab pos="0" algn="l"/>
              </a:tabLst>
            </a:pPr>
            <a:r>
              <a:rPr lang="en-US" sz="2800" dirty="0" err="1">
                <a:solidFill>
                  <a:schemeClr val="dk1"/>
                </a:solidFill>
                <a:latin typeface="VT323"/>
              </a:rPr>
              <a:t>Архитектура</a:t>
            </a:r>
            <a:endParaRPr lang="en-US" sz="2800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130" name="image69e4f2bf341d1" descr="image69e4f2bf341d5"/>
          <p:cNvPicPr/>
          <p:nvPr/>
        </p:nvPicPr>
        <p:blipFill>
          <a:blip r:embed="rId2"/>
          <a:stretch/>
        </p:blipFill>
        <p:spPr>
          <a:xfrm>
            <a:off x="5579842" y="714165"/>
            <a:ext cx="3334836" cy="407809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Rectangle 130"/>
          <p:cNvSpPr/>
          <p:nvPr/>
        </p:nvSpPr>
        <p:spPr>
          <a:xfrm>
            <a:off x="229321" y="1209535"/>
            <a:ext cx="5209453" cy="3039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r>
              <a:rPr lang="en-US" sz="1600" dirty="0" err="1">
                <a:solidFill>
                  <a:schemeClr val="dk1"/>
                </a:solidFill>
                <a:latin typeface="VT323"/>
              </a:rPr>
              <a:t>Клиент</a:t>
            </a:r>
            <a:r>
              <a:rPr lang="en-US" sz="1600" dirty="0">
                <a:solidFill>
                  <a:schemeClr val="dk1"/>
                </a:solidFill>
                <a:latin typeface="VT323"/>
              </a:rPr>
              <a:t>: React (</a:t>
            </a:r>
            <a:r>
              <a:rPr lang="ru-RU" sz="1600" dirty="0">
                <a:solidFill>
                  <a:schemeClr val="dk1"/>
                </a:solidFill>
                <a:latin typeface="VT323"/>
              </a:rPr>
              <a:t>веб</a:t>
            </a:r>
            <a:r>
              <a:rPr lang="en-US" sz="1600" dirty="0">
                <a:solidFill>
                  <a:schemeClr val="dk1"/>
                </a:solidFill>
                <a:latin typeface="VT323"/>
              </a:rPr>
              <a:t>)</a:t>
            </a:r>
            <a:r>
              <a:rPr lang="ru-RU" sz="1600" dirty="0">
                <a:solidFill>
                  <a:schemeClr val="dk1"/>
                </a:solidFill>
                <a:latin typeface="VT323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VT323"/>
              </a:rPr>
              <a:t>+ Flutter (</a:t>
            </a:r>
            <a:r>
              <a:rPr lang="ru-RU" sz="1600" dirty="0" err="1">
                <a:solidFill>
                  <a:schemeClr val="dk1"/>
                </a:solidFill>
                <a:latin typeface="VT323"/>
              </a:rPr>
              <a:t>лаунчер</a:t>
            </a:r>
            <a:r>
              <a:rPr lang="ru-RU" sz="1600" dirty="0">
                <a:solidFill>
                  <a:schemeClr val="dk1"/>
                </a:solidFill>
                <a:latin typeface="VT323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VT323"/>
              </a:rPr>
              <a:t>Windows/Android)</a:t>
            </a:r>
            <a:endParaRPr lang="en-US" sz="16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7281AC2-2667-7939-E496-7A72742FC3E2}"/>
              </a:ext>
            </a:extLst>
          </p:cNvPr>
          <p:cNvSpPr/>
          <p:nvPr/>
        </p:nvSpPr>
        <p:spPr>
          <a:xfrm>
            <a:off x="229321" y="1604543"/>
            <a:ext cx="4856606" cy="3039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OpenSymbol"/>
              </a:rPr>
              <a:t>Сервер</a:t>
            </a:r>
            <a:r>
              <a:rPr lang="en-US" sz="1600" dirty="0">
                <a:solidFill>
                  <a:srgbClr val="000000"/>
                </a:solidFill>
                <a:latin typeface="OpenSymbol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Express, JWT, REST API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7EC453C-4157-E9FF-25CF-373528CFA63C}"/>
              </a:ext>
            </a:extLst>
          </p:cNvPr>
          <p:cNvSpPr/>
          <p:nvPr/>
        </p:nvSpPr>
        <p:spPr>
          <a:xfrm>
            <a:off x="229321" y="2036767"/>
            <a:ext cx="5209452" cy="3054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OpenSymbol"/>
              </a:rPr>
              <a:t>БД</a:t>
            </a:r>
            <a:r>
              <a:rPr lang="en-US" sz="1600" dirty="0">
                <a:solidFill>
                  <a:srgbClr val="000000"/>
                </a:solidFill>
                <a:latin typeface="OpenSymbol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хранилище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Storage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0B4B20C-920E-8AF2-AE30-F3A74F99E17D}"/>
              </a:ext>
            </a:extLst>
          </p:cNvPr>
          <p:cNvSpPr/>
          <p:nvPr/>
        </p:nvSpPr>
        <p:spPr>
          <a:xfrm>
            <a:off x="229320" y="2530202"/>
            <a:ext cx="5454787" cy="3054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OpenSymbol"/>
              </a:rPr>
              <a:t>Деплой</a:t>
            </a:r>
            <a:r>
              <a:rPr lang="en-US" sz="1600" dirty="0">
                <a:solidFill>
                  <a:srgbClr val="000000"/>
                </a:solidFill>
                <a:latin typeface="OpenSymbol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Railway (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+ сервер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репозитории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2A7593C-6E9B-28C1-7ACE-00AE1EA28EF3}"/>
              </a:ext>
            </a:extLst>
          </p:cNvPr>
          <p:cNvSpPr/>
          <p:nvPr/>
        </p:nvSpPr>
        <p:spPr>
          <a:xfrm>
            <a:off x="229321" y="3376212"/>
            <a:ext cx="1496566" cy="1057393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КЛИЕНТ</a:t>
            </a:r>
          </a:p>
          <a:p>
            <a:pPr algn="ctr"/>
            <a:endParaRPr lang="ru-RU" sz="1400" dirty="0"/>
          </a:p>
          <a:p>
            <a:pPr algn="just"/>
            <a:r>
              <a:rPr lang="ru-RU" sz="1400" dirty="0"/>
              <a:t>Веб</a:t>
            </a:r>
            <a:r>
              <a:rPr lang="en-US" sz="1400" dirty="0"/>
              <a:t>: React</a:t>
            </a:r>
          </a:p>
          <a:p>
            <a:pPr algn="just"/>
            <a:r>
              <a:rPr lang="ru-RU" sz="1400" dirty="0" err="1"/>
              <a:t>Лаунчер</a:t>
            </a:r>
            <a:r>
              <a:rPr lang="en-US" sz="1400" dirty="0"/>
              <a:t>: Flutter</a:t>
            </a:r>
          </a:p>
          <a:p>
            <a:pPr algn="just"/>
            <a:endParaRPr lang="ru-RU" sz="1200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C62517A-2E20-2A21-E563-782B6ABE2970}"/>
              </a:ext>
            </a:extLst>
          </p:cNvPr>
          <p:cNvSpPr/>
          <p:nvPr/>
        </p:nvSpPr>
        <p:spPr>
          <a:xfrm>
            <a:off x="2233426" y="3175923"/>
            <a:ext cx="1201242" cy="1558821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СЕРВЕР</a:t>
            </a:r>
          </a:p>
          <a:p>
            <a:pPr algn="ctr"/>
            <a:endParaRPr lang="ru-RU" sz="1400" dirty="0"/>
          </a:p>
          <a:p>
            <a:r>
              <a:rPr lang="en-US" sz="1400" dirty="0"/>
              <a:t>Node.js + Express, JWT, REST API</a:t>
            </a:r>
          </a:p>
          <a:p>
            <a:pPr algn="just"/>
            <a:endParaRPr lang="ru-RU" sz="12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5B3D183E-8C54-6F2C-7357-39A6BD088331}"/>
              </a:ext>
            </a:extLst>
          </p:cNvPr>
          <p:cNvSpPr/>
          <p:nvPr/>
        </p:nvSpPr>
        <p:spPr>
          <a:xfrm>
            <a:off x="3983521" y="3426638"/>
            <a:ext cx="1526862" cy="1057393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БАЗА ДАННЫХ</a:t>
            </a:r>
          </a:p>
          <a:p>
            <a:pPr algn="ctr"/>
            <a:endParaRPr lang="ru-RU" sz="1400" dirty="0"/>
          </a:p>
          <a:p>
            <a:r>
              <a:rPr lang="en-US" sz="1400" dirty="0"/>
              <a:t>PostgreSQL (</a:t>
            </a:r>
            <a:r>
              <a:rPr lang="en-US" sz="1400" dirty="0" err="1"/>
              <a:t>Supabase</a:t>
            </a:r>
            <a:r>
              <a:rPr lang="en-US" sz="1400" dirty="0"/>
              <a:t>) + Storage</a:t>
            </a:r>
            <a:endParaRPr lang="ru-RU" sz="1400" dirty="0"/>
          </a:p>
        </p:txBody>
      </p:sp>
      <p:sp>
        <p:nvSpPr>
          <p:cNvPr id="12" name="Arrow: Down 8">
            <a:extLst>
              <a:ext uri="{FF2B5EF4-FFF2-40B4-BE49-F238E27FC236}">
                <a16:creationId xmlns:a16="http://schemas.microsoft.com/office/drawing/2014/main" id="{8E19DB90-DB85-A847-29BE-92969EEB018C}"/>
              </a:ext>
            </a:extLst>
          </p:cNvPr>
          <p:cNvSpPr/>
          <p:nvPr/>
        </p:nvSpPr>
        <p:spPr>
          <a:xfrm rot="16200000">
            <a:off x="1787488" y="3683169"/>
            <a:ext cx="325810" cy="44347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1"/>
          </a:p>
        </p:txBody>
      </p:sp>
      <p:sp>
        <p:nvSpPr>
          <p:cNvPr id="13" name="Arrow: Down 9">
            <a:extLst>
              <a:ext uri="{FF2B5EF4-FFF2-40B4-BE49-F238E27FC236}">
                <a16:creationId xmlns:a16="http://schemas.microsoft.com/office/drawing/2014/main" id="{8A3BC593-BF98-DFF9-38C1-C2F852EC47D1}"/>
              </a:ext>
            </a:extLst>
          </p:cNvPr>
          <p:cNvSpPr/>
          <p:nvPr/>
        </p:nvSpPr>
        <p:spPr>
          <a:xfrm rot="16200000">
            <a:off x="3596110" y="3683169"/>
            <a:ext cx="325810" cy="44347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0"/>
          <p:cNvSpPr/>
          <p:nvPr/>
        </p:nvSpPr>
        <p:spPr>
          <a:xfrm>
            <a:off x="769959" y="170722"/>
            <a:ext cx="3927048" cy="952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tabLst>
                <a:tab pos="0" algn="l"/>
              </a:tabLst>
            </a:pPr>
            <a:r>
              <a:rPr lang="en-US" b="1" dirty="0" err="1">
                <a:solidFill>
                  <a:schemeClr val="accent1"/>
                </a:solidFill>
                <a:latin typeface="VT323"/>
              </a:rPr>
              <a:t>Модель</a:t>
            </a:r>
            <a:r>
              <a:rPr lang="en-US" b="1" dirty="0">
                <a:solidFill>
                  <a:schemeClr val="accent1"/>
                </a:solidFill>
                <a:latin typeface="VT323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VT323"/>
              </a:rPr>
              <a:t>данных</a:t>
            </a:r>
            <a:r>
              <a:rPr lang="en-US" b="1" dirty="0">
                <a:solidFill>
                  <a:schemeClr val="accent1"/>
                </a:solidFill>
                <a:latin typeface="VT323"/>
              </a:rPr>
              <a:t> (ER)</a:t>
            </a: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4A1A5-F223-6AF1-8FE3-9C3C613962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46460"/>
            <a:ext cx="6819900" cy="4031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0">
            <a:extLst>
              <a:ext uri="{FF2B5EF4-FFF2-40B4-BE49-F238E27FC236}">
                <a16:creationId xmlns:a16="http://schemas.microsoft.com/office/drawing/2014/main" id="{73F08C53-27F7-E8DE-5278-9EE5EC95C3E6}"/>
              </a:ext>
            </a:extLst>
          </p:cNvPr>
          <p:cNvSpPr/>
          <p:nvPr/>
        </p:nvSpPr>
        <p:spPr>
          <a:xfrm>
            <a:off x="834994" y="170326"/>
            <a:ext cx="4791392" cy="353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latin typeface="OpenSymbol"/>
              </a:rPr>
              <a:t>Диаграмма вариантов использования</a:t>
            </a: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515DBE11-2E85-BFB6-308A-B17454DC02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226" y="682052"/>
            <a:ext cx="5396460" cy="409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7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0">
            <a:extLst>
              <a:ext uri="{FF2B5EF4-FFF2-40B4-BE49-F238E27FC236}">
                <a16:creationId xmlns:a16="http://schemas.microsoft.com/office/drawing/2014/main" id="{1DDDA9B7-9DE7-3528-9250-3071C412DCD7}"/>
              </a:ext>
            </a:extLst>
          </p:cNvPr>
          <p:cNvSpPr/>
          <p:nvPr/>
        </p:nvSpPr>
        <p:spPr>
          <a:xfrm>
            <a:off x="834994" y="170326"/>
            <a:ext cx="5565806" cy="353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latin typeface="OpenSymbol"/>
              </a:rPr>
              <a:t>Диаграмма функционального моделирования</a:t>
            </a: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5" name="Рисунок 49">
            <a:extLst>
              <a:ext uri="{FF2B5EF4-FFF2-40B4-BE49-F238E27FC236}">
                <a16:creationId xmlns:a16="http://schemas.microsoft.com/office/drawing/2014/main" id="{D9FC80EF-08E7-6669-5C89-182BAC1B92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41" y="740061"/>
            <a:ext cx="7789918" cy="4071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5223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0">
            <a:extLst>
              <a:ext uri="{FF2B5EF4-FFF2-40B4-BE49-F238E27FC236}">
                <a16:creationId xmlns:a16="http://schemas.microsoft.com/office/drawing/2014/main" id="{C645158E-F51D-F4C1-4801-00DF8A1E04ED}"/>
              </a:ext>
            </a:extLst>
          </p:cNvPr>
          <p:cNvSpPr/>
          <p:nvPr/>
        </p:nvSpPr>
        <p:spPr>
          <a:xfrm>
            <a:off x="834994" y="170326"/>
            <a:ext cx="4791392" cy="353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latin typeface="OpenSymbol"/>
              </a:rPr>
              <a:t>Диаграмма потоков данных</a:t>
            </a: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5" name="Рисунок 29">
            <a:extLst>
              <a:ext uri="{FF2B5EF4-FFF2-40B4-BE49-F238E27FC236}">
                <a16:creationId xmlns:a16="http://schemas.microsoft.com/office/drawing/2014/main" id="{818815F0-1525-F09F-C8E0-1F66D123C5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57" y="697043"/>
            <a:ext cx="8012164" cy="40548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8268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87FD31-576F-BF07-5F4C-787F01943FF9}"/>
              </a:ext>
            </a:extLst>
          </p:cNvPr>
          <p:cNvSpPr/>
          <p:nvPr/>
        </p:nvSpPr>
        <p:spPr>
          <a:xfrm>
            <a:off x="299293" y="133462"/>
            <a:ext cx="5547527" cy="6629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latin typeface="OpenSymbol"/>
              </a:rPr>
              <a:t>Алгоритмы авторизации и регистрации</a:t>
            </a: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11" name="Picture 10" descr="A diagram of a flowchart&#10;&#10;AI-generated content may be incorrect.">
            <a:extLst>
              <a:ext uri="{FF2B5EF4-FFF2-40B4-BE49-F238E27FC236}">
                <a16:creationId xmlns:a16="http://schemas.microsoft.com/office/drawing/2014/main" id="{506C12B1-D683-5D3E-7636-06E4BF0BCC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911" y="1188052"/>
            <a:ext cx="2474284" cy="3410646"/>
          </a:xfrm>
          <a:prstGeom prst="rect">
            <a:avLst/>
          </a:prstGeom>
        </p:spPr>
      </p:pic>
      <p:pic>
        <p:nvPicPr>
          <p:cNvPr id="13" name="Picture 12" descr="A diagram of a company&#10;&#10;AI-generated content may be incorrect.">
            <a:extLst>
              <a:ext uri="{FF2B5EF4-FFF2-40B4-BE49-F238E27FC236}">
                <a16:creationId xmlns:a16="http://schemas.microsoft.com/office/drawing/2014/main" id="{4DFA7EBD-ACE2-A6AF-2E51-7E90E17D2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570" y="1188053"/>
            <a:ext cx="2536292" cy="2569992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9687FD31-576F-BF07-5F4C-787F01943FF9}"/>
              </a:ext>
            </a:extLst>
          </p:cNvPr>
          <p:cNvSpPr/>
          <p:nvPr/>
        </p:nvSpPr>
        <p:spPr>
          <a:xfrm>
            <a:off x="3530755" y="796418"/>
            <a:ext cx="2584440" cy="6629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r>
              <a:rPr lang="ru-RU" sz="1600" b="1" dirty="0">
                <a:solidFill>
                  <a:srgbClr val="000000"/>
                </a:solidFill>
                <a:latin typeface="OpenSymbol"/>
              </a:rPr>
              <a:t>1.</a:t>
            </a:r>
            <a:r>
              <a:rPr lang="en-US" sz="1600" b="1" dirty="0">
                <a:solidFill>
                  <a:srgbClr val="000000"/>
                </a:solidFill>
                <a:latin typeface="OpenSymbol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OpenSymbol"/>
              </a:rPr>
              <a:t>Алгоритм регистрации</a:t>
            </a:r>
            <a:endParaRPr lang="en-US" sz="1600" b="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9" name="Рисунок 12">
            <a:extLst>
              <a:ext uri="{FF2B5EF4-FFF2-40B4-BE49-F238E27FC236}">
                <a16:creationId xmlns:a16="http://schemas.microsoft.com/office/drawing/2014/main" id="{CC8793CB-A649-F83F-E9E6-D0A14A396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16" y="1094084"/>
            <a:ext cx="2882009" cy="1634707"/>
          </a:xfrm>
          <a:prstGeom prst="rect">
            <a:avLst/>
          </a:prstGeom>
        </p:spPr>
      </p:pic>
      <p:pic>
        <p:nvPicPr>
          <p:cNvPr id="10" name="Рисунок 13">
            <a:extLst>
              <a:ext uri="{FF2B5EF4-FFF2-40B4-BE49-F238E27FC236}">
                <a16:creationId xmlns:a16="http://schemas.microsoft.com/office/drawing/2014/main" id="{9F506736-9453-6629-110F-C03CC522E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16" y="3026456"/>
            <a:ext cx="2882009" cy="1634707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EE09ED86-7163-F8C4-F114-5ECE60CD567C}"/>
              </a:ext>
            </a:extLst>
          </p:cNvPr>
          <p:cNvSpPr/>
          <p:nvPr/>
        </p:nvSpPr>
        <p:spPr>
          <a:xfrm>
            <a:off x="6260267" y="796419"/>
            <a:ext cx="2584440" cy="6629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r>
              <a:rPr lang="ru-RU" sz="1600" b="1" dirty="0">
                <a:solidFill>
                  <a:srgbClr val="000000"/>
                </a:solidFill>
                <a:latin typeface="OpenSymbol"/>
              </a:rPr>
              <a:t>2.</a:t>
            </a:r>
            <a:r>
              <a:rPr lang="en-US" sz="1600" b="1" dirty="0">
                <a:solidFill>
                  <a:srgbClr val="000000"/>
                </a:solidFill>
                <a:latin typeface="OpenSymbol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OpenSymbol"/>
              </a:rPr>
              <a:t>Алгоритм авторизации</a:t>
            </a:r>
            <a:endParaRPr lang="en-US" sz="1600" b="1" dirty="0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566553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/>
          <p:cNvSpPr/>
          <p:nvPr/>
        </p:nvSpPr>
        <p:spPr>
          <a:xfrm>
            <a:off x="327369" y="163006"/>
            <a:ext cx="5457157" cy="4577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latin typeface="OpenSymbol"/>
              </a:rPr>
              <a:t>Алгоритм работы каталога и фильтрации</a:t>
            </a: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6" name="Picture 5" descr="A diagram of a flowchart&#10;&#10;AI-generated content may be incorrect.">
            <a:extLst>
              <a:ext uri="{FF2B5EF4-FFF2-40B4-BE49-F238E27FC236}">
                <a16:creationId xmlns:a16="http://schemas.microsoft.com/office/drawing/2014/main" id="{1128035D-C192-A097-F9B3-759349CD85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299" y="730928"/>
            <a:ext cx="2286843" cy="40772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BA488D-9A97-9D16-E28A-C96A68485A0E}"/>
              </a:ext>
            </a:extLst>
          </p:cNvPr>
          <p:cNvSpPr/>
          <p:nvPr/>
        </p:nvSpPr>
        <p:spPr>
          <a:xfrm>
            <a:off x="267299" y="1666620"/>
            <a:ext cx="5238717" cy="13315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32">
            <a:extLst>
              <a:ext uri="{FF2B5EF4-FFF2-40B4-BE49-F238E27FC236}">
                <a16:creationId xmlns:a16="http://schemas.microsoft.com/office/drawing/2014/main" id="{3C983064-0BD8-5831-FD47-1804E6681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25" y="730928"/>
            <a:ext cx="5510727" cy="33463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E44875-7580-F51B-A7A6-838AD45BFF16}"/>
              </a:ext>
            </a:extLst>
          </p:cNvPr>
          <p:cNvSpPr/>
          <p:nvPr/>
        </p:nvSpPr>
        <p:spPr>
          <a:xfrm>
            <a:off x="349282" y="156925"/>
            <a:ext cx="5530911" cy="8133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effectLst/>
                <a:latin typeface="quote-cjk-patch"/>
              </a:rPr>
              <a:t>Алгоритм добавления товара в корзину</a:t>
            </a:r>
          </a:p>
          <a:p>
            <a:pPr defTabSz="914411">
              <a:tabLst>
                <a:tab pos="0" algn="l"/>
              </a:tabLst>
            </a:pP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67BF3076-EF1F-EA32-7D5B-BD9DDA8CA2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245" y="730926"/>
            <a:ext cx="3088517" cy="40239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93D917-BB06-5A52-9409-730DB2D96C30}"/>
              </a:ext>
            </a:extLst>
          </p:cNvPr>
          <p:cNvSpPr/>
          <p:nvPr/>
        </p:nvSpPr>
        <p:spPr>
          <a:xfrm>
            <a:off x="222282" y="1544320"/>
            <a:ext cx="4796757" cy="19922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tabLst>
                <a:tab pos="0" algn="l"/>
              </a:tabLst>
            </a:pPr>
            <a:endParaRPr lang="en-US" sz="1600" dirty="0">
              <a:latin typeface="OpenSymbol"/>
            </a:endParaRPr>
          </a:p>
        </p:txBody>
      </p:sp>
      <p:pic>
        <p:nvPicPr>
          <p:cNvPr id="5" name="Рисунок 36">
            <a:extLst>
              <a:ext uri="{FF2B5EF4-FFF2-40B4-BE49-F238E27FC236}">
                <a16:creationId xmlns:a16="http://schemas.microsoft.com/office/drawing/2014/main" id="{3A640D21-76CF-F228-DED2-F3CED5DEB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82" y="3050225"/>
            <a:ext cx="4362882" cy="17586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Рисунок 31">
            <a:extLst>
              <a:ext uri="{FF2B5EF4-FFF2-40B4-BE49-F238E27FC236}">
                <a16:creationId xmlns:a16="http://schemas.microsoft.com/office/drawing/2014/main" id="{E54D9202-873B-1099-72A8-441794031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82" y="997607"/>
            <a:ext cx="4986800" cy="17452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92196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D6876E-9083-62A8-4333-D06C38573DFF}"/>
              </a:ext>
            </a:extLst>
          </p:cNvPr>
          <p:cNvSpPr/>
          <p:nvPr/>
        </p:nvSpPr>
        <p:spPr>
          <a:xfrm>
            <a:off x="249352" y="176948"/>
            <a:ext cx="5060917" cy="57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effectLst/>
                <a:latin typeface="quote-cjk-patch"/>
              </a:rPr>
              <a:t>Алгоритм оформления заказа</a:t>
            </a:r>
          </a:p>
          <a:p>
            <a:pPr defTabSz="914411">
              <a:tabLst>
                <a:tab pos="0" algn="l"/>
              </a:tabLst>
            </a:pP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19" name="Picture 18" descr="A diagram of a system&#10;&#10;AI-generated content may be incorrect.">
            <a:extLst>
              <a:ext uri="{FF2B5EF4-FFF2-40B4-BE49-F238E27FC236}">
                <a16:creationId xmlns:a16="http://schemas.microsoft.com/office/drawing/2014/main" id="{0F482B05-DC48-8EEF-62DF-7048915755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670" y="826148"/>
            <a:ext cx="3659625" cy="3241040"/>
          </a:xfrm>
          <a:prstGeom prst="rect">
            <a:avLst/>
          </a:prstGeom>
        </p:spPr>
      </p:pic>
      <p:pic>
        <p:nvPicPr>
          <p:cNvPr id="5" name="Рисунок 41">
            <a:extLst>
              <a:ext uri="{FF2B5EF4-FFF2-40B4-BE49-F238E27FC236}">
                <a16:creationId xmlns:a16="http://schemas.microsoft.com/office/drawing/2014/main" id="{F60FEA97-5A19-DDFF-0134-38B487C0E0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14" y="826148"/>
            <a:ext cx="4832641" cy="12733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2" name="Рисунок 39">
            <a:extLst>
              <a:ext uri="{FF2B5EF4-FFF2-40B4-BE49-F238E27FC236}">
                <a16:creationId xmlns:a16="http://schemas.microsoft.com/office/drawing/2014/main" id="{2A1B5007-4B6E-F5D7-7724-1E49CE27E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13" y="2169567"/>
            <a:ext cx="3222675" cy="260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88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7538C6-A00E-B9D7-98FF-F0DFDEB0F234}"/>
              </a:ext>
            </a:extLst>
          </p:cNvPr>
          <p:cNvSpPr/>
          <p:nvPr/>
        </p:nvSpPr>
        <p:spPr>
          <a:xfrm>
            <a:off x="283077" y="195267"/>
            <a:ext cx="5850745" cy="57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11">
              <a:tabLst>
                <a:tab pos="0" algn="l"/>
              </a:tabLst>
            </a:pPr>
            <a:r>
              <a:rPr lang="ru-RU" b="1" dirty="0">
                <a:solidFill>
                  <a:schemeClr val="accent1"/>
                </a:solidFill>
                <a:effectLst/>
                <a:latin typeface="quote-cjk-patch"/>
              </a:rPr>
              <a:t>Алгоритм </a:t>
            </a:r>
            <a:r>
              <a:rPr lang="ru-RU" b="1" dirty="0">
                <a:solidFill>
                  <a:schemeClr val="accent1"/>
                </a:solidFill>
                <a:latin typeface="quote-cjk-patch"/>
              </a:rPr>
              <a:t>взаимодействия с купленным товаром</a:t>
            </a:r>
            <a:endParaRPr lang="ru-RU" b="1" dirty="0">
              <a:solidFill>
                <a:schemeClr val="accent1"/>
              </a:solidFill>
              <a:effectLst/>
              <a:latin typeface="quote-cjk-patch"/>
            </a:endParaRPr>
          </a:p>
          <a:p>
            <a:pPr defTabSz="914411">
              <a:tabLst>
                <a:tab pos="0" algn="l"/>
              </a:tabLst>
            </a:pPr>
            <a:endParaRPr lang="en-US" b="1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BB31822F-185A-7D90-081A-EEF9C6CA0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200" y="730928"/>
            <a:ext cx="3362960" cy="4064592"/>
          </a:xfrm>
          <a:prstGeom prst="rect">
            <a:avLst/>
          </a:prstGeom>
        </p:spPr>
      </p:pic>
      <p:pic>
        <p:nvPicPr>
          <p:cNvPr id="5" name="Рисунок 106">
            <a:extLst>
              <a:ext uri="{FF2B5EF4-FFF2-40B4-BE49-F238E27FC236}">
                <a16:creationId xmlns:a16="http://schemas.microsoft.com/office/drawing/2014/main" id="{56799C18-A020-0B06-2AB0-5DD4F762A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56" y="730147"/>
            <a:ext cx="5254123" cy="406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1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11">
            <a:extLst>
              <a:ext uri="{FF2B5EF4-FFF2-40B4-BE49-F238E27FC236}">
                <a16:creationId xmlns:a16="http://schemas.microsoft.com/office/drawing/2014/main" id="{082EBDBB-25A3-D90D-26DB-E36A6B24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894" t="40310" r="12117" b="18949"/>
          <a:stretch/>
        </p:blipFill>
        <p:spPr>
          <a:xfrm>
            <a:off x="5514293" y="1629863"/>
            <a:ext cx="2545492" cy="25202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351A8F-B2AB-F469-E592-F65C5A63DD41}"/>
              </a:ext>
            </a:extLst>
          </p:cNvPr>
          <p:cNvSpPr txBox="1"/>
          <p:nvPr/>
        </p:nvSpPr>
        <p:spPr>
          <a:xfrm>
            <a:off x="471527" y="717084"/>
            <a:ext cx="3950572" cy="78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Отсканируйте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QR-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 для перехода на страницу авторизации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14FC7-BE0B-94CF-FC60-D8CFF0B5A9C5}"/>
              </a:ext>
            </a:extLst>
          </p:cNvPr>
          <p:cNvSpPr txBox="1"/>
          <p:nvPr/>
        </p:nvSpPr>
        <p:spPr>
          <a:xfrm>
            <a:off x="5021042" y="744391"/>
            <a:ext cx="4572000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для установки </a:t>
            </a:r>
            <a:r>
              <a:rPr lang="ru-RU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лаунчера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70D239-3089-0626-EF5C-FEE5429FFCD7}"/>
              </a:ext>
            </a:extLst>
          </p:cNvPr>
          <p:cNvSpPr/>
          <p:nvPr/>
        </p:nvSpPr>
        <p:spPr>
          <a:xfrm>
            <a:off x="268066" y="185116"/>
            <a:ext cx="8191081" cy="3354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11">
              <a:tabLst>
                <a:tab pos="0" algn="l"/>
              </a:tabLst>
            </a:pPr>
            <a:r>
              <a:rPr lang="ru-RU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Ссылки на сервис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C99E4278-C94E-B951-35CE-CF04A35079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54" y="1629864"/>
            <a:ext cx="2631382" cy="252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0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/>
          <p:cNvSpPr/>
          <p:nvPr/>
        </p:nvSpPr>
        <p:spPr>
          <a:xfrm>
            <a:off x="738800" y="146273"/>
            <a:ext cx="8038105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11">
              <a:tabLst>
                <a:tab pos="0" algn="l"/>
              </a:tabLst>
            </a:pPr>
            <a:r>
              <a:rPr lang="ru-RU" dirty="0">
                <a:solidFill>
                  <a:schemeClr val="accent1"/>
                </a:solidFill>
                <a:latin typeface="VT323"/>
              </a:rPr>
              <a:t>Заключение</a:t>
            </a:r>
            <a:endParaRPr lang="en-US" dirty="0">
              <a:solidFill>
                <a:schemeClr val="accent1"/>
              </a:solidFill>
              <a:latin typeface="OpenSymbol"/>
            </a:endParaRPr>
          </a:p>
        </p:txBody>
      </p:sp>
      <p:pic>
        <p:nvPicPr>
          <p:cNvPr id="150" name="image69e4f2bf5fb90" descr="image69e4f2bf5fb93"/>
          <p:cNvPicPr/>
          <p:nvPr/>
        </p:nvPicPr>
        <p:blipFill>
          <a:blip r:embed="rId2"/>
          <a:stretch/>
        </p:blipFill>
        <p:spPr>
          <a:xfrm>
            <a:off x="5159351" y="714165"/>
            <a:ext cx="3777381" cy="409493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Rectangle 151"/>
          <p:cNvSpPr/>
          <p:nvPr/>
        </p:nvSpPr>
        <p:spPr>
          <a:xfrm>
            <a:off x="215978" y="669493"/>
            <a:ext cx="4783546" cy="25674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Достигнуто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defTabSz="914411"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игр, приложений, подписок, аккаунтов</a:t>
            </a:r>
          </a:p>
          <a:p>
            <a:pPr algn="just"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Кроссплатформенный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лаунчер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(Windows/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Облачное развёртывание (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Railway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Рабочие корзина, библиотека, главная страница и обратная связь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11">
              <a:lnSpc>
                <a:spcPct val="150000"/>
              </a:lnSpc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Планы: реальная оплата, запуск демо-продуктов, улучшение мобильной версии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1577</TotalTime>
  <Words>265</Words>
  <Application>Microsoft Office PowerPoint</Application>
  <PresentationFormat>On-screen Show (16:9)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OpenSymbol</vt:lpstr>
      <vt:lpstr>quote-cjk-patch</vt:lpstr>
      <vt:lpstr>Roboto Mono</vt:lpstr>
      <vt:lpstr>Symbol</vt:lpstr>
      <vt:lpstr>Times New Roman</vt:lpstr>
      <vt:lpstr>VT323</vt:lpstr>
      <vt:lpstr>Wingdings</vt:lpstr>
      <vt:lpstr>My Presentation Template</vt:lpstr>
      <vt:lpstr>My Presentation Template</vt:lpstr>
      <vt:lpstr>Slidesgo Final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Quazar</dc:title>
  <cp:lastModifiedBy>Егор Иванов</cp:lastModifiedBy>
  <cp:revision>26</cp:revision>
  <dcterms:modified xsi:type="dcterms:W3CDTF">2026-06-16T19:58:37Z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2026-04-19T15:20:29Z</dcterms:created>
  <dc:creator>Unknown Creator</dc:creator>
  <dc:description/>
  <dc:language>en-US</dc:language>
  <cp:lastModifiedBy>Unknown Creator</cp:lastModifiedBy>
  <dcterms:modified xsi:type="dcterms:W3CDTF">2026-04-19T15:20:29Z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